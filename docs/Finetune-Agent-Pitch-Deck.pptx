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50608" y="0"/>
            <a:ext cx="0" cy="685800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0416" y="0"/>
            <a:ext cx="0" cy="685800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0224" y="0"/>
            <a:ext cx="0" cy="685800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00032" y="0"/>
            <a:ext cx="0" cy="685800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9456" y="0"/>
            <a:ext cx="0" cy="685800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0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768096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36192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304288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072384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840480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608576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5376672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6144768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6912864"/>
            <a:ext cx="5790895" cy="0"/>
          </a:xfrm>
          <a:prstGeom prst="line">
            <a:avLst/>
          </a:prstGeom>
          <a:noFill/>
          <a:ln w="6350">
            <a:solidFill>
              <a:srgbClr val="27313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63256" y="1545336"/>
            <a:ext cx="1828800" cy="1645920"/>
          </a:xfrm>
          <a:prstGeom prst="line">
            <a:avLst/>
          </a:prstGeom>
          <a:noFill/>
          <a:ln w="12700">
            <a:solidFill>
              <a:srgbClr val="2DE2A6">
                <a:alpha val="65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592056" y="3191256"/>
            <a:ext cx="-365760" cy="1737360"/>
          </a:xfrm>
          <a:prstGeom prst="line">
            <a:avLst/>
          </a:prstGeom>
          <a:noFill/>
          <a:ln w="12700">
            <a:solidFill>
              <a:srgbClr val="2DE2A6">
                <a:alpha val="6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226296" y="4928616"/>
            <a:ext cx="1280160" cy="548640"/>
          </a:xfrm>
          <a:prstGeom prst="line">
            <a:avLst/>
          </a:prstGeom>
          <a:noFill/>
          <a:ln w="12700">
            <a:solidFill>
              <a:srgbClr val="2DE2A6">
                <a:alpha val="6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401154" y="1183234"/>
            <a:ext cx="559613" cy="559613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0" y="1463040"/>
            <a:ext cx="164592" cy="164592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25" name="Shape 23"/>
          <p:cNvSpPr/>
          <p:nvPr/>
        </p:nvSpPr>
        <p:spPr>
          <a:xfrm>
            <a:off x="8652053" y="1885493"/>
            <a:ext cx="435254" cy="435254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869680" y="2103120"/>
            <a:ext cx="128016" cy="128016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30638" y="1078078"/>
            <a:ext cx="404165" cy="404165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332720" y="1280160"/>
            <a:ext cx="118872" cy="118872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29" name="Shape 27"/>
          <p:cNvSpPr/>
          <p:nvPr/>
        </p:nvSpPr>
        <p:spPr>
          <a:xfrm>
            <a:off x="9167774" y="2766974"/>
            <a:ext cx="683971" cy="683971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509760" y="3108960"/>
            <a:ext cx="201168" cy="201168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1" name="Shape 29"/>
          <p:cNvSpPr/>
          <p:nvPr/>
        </p:nvSpPr>
        <p:spPr>
          <a:xfrm>
            <a:off x="7889443" y="3500323"/>
            <a:ext cx="497434" cy="497434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138160" y="3749040"/>
            <a:ext cx="146304" cy="146304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94822" y="2556662"/>
            <a:ext cx="373075" cy="373075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881360" y="2743200"/>
            <a:ext cx="109728" cy="109728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5" name="Shape 33"/>
          <p:cNvSpPr/>
          <p:nvPr/>
        </p:nvSpPr>
        <p:spPr>
          <a:xfrm>
            <a:off x="8910828" y="4613148"/>
            <a:ext cx="466344" cy="466344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0" y="4846320"/>
            <a:ext cx="137160" cy="13716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70718" y="4004158"/>
            <a:ext cx="404165" cy="404165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972800" y="4206240"/>
            <a:ext cx="118872" cy="11887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9" name="Shape 37"/>
          <p:cNvSpPr/>
          <p:nvPr/>
        </p:nvSpPr>
        <p:spPr>
          <a:xfrm>
            <a:off x="7677302" y="4934102"/>
            <a:ext cx="373075" cy="373075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63840" y="5120640"/>
            <a:ext cx="109728" cy="109728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59898" y="5130698"/>
            <a:ext cx="528523" cy="528523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424160" y="5394960"/>
            <a:ext cx="155448" cy="155448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43" name="Shape 41"/>
          <p:cNvSpPr/>
          <p:nvPr/>
        </p:nvSpPr>
        <p:spPr>
          <a:xfrm>
            <a:off x="8439912" y="2587752"/>
            <a:ext cx="310896" cy="310896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595360" y="2743200"/>
            <a:ext cx="91440" cy="9144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45" name="Text 43"/>
          <p:cNvSpPr/>
          <p:nvPr/>
        </p:nvSpPr>
        <p:spPr>
          <a:xfrm>
            <a:off x="566928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 ·  HACKATHON 2026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Finetune Agent</a:t>
            </a:r>
            <a:endParaRPr lang="en-US" sz="6600" dirty="0"/>
          </a:p>
        </p:txBody>
      </p:sp>
      <p:sp>
        <p:nvSpPr>
          <p:cNvPr id="47" name="Text 45"/>
          <p:cNvSpPr/>
          <p:nvPr/>
        </p:nvSpPr>
        <p:spPr>
          <a:xfrm>
            <a:off x="566928" y="33832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2DE2A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Find.  Analyze.  Close.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566928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B2B sales intelligence, built for Southeast Asia.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66928" y="5806440"/>
            <a:ext cx="51206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5943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Finetune   ·   Sales Intelligence Track   ·  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01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THE STORY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Raka — an SDR with a Monday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989320" cy="370332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54864" cy="370332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MONDAY, 09:00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 task: find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dentist clinics across Surabaya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pitch booking software.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 opens Google Maps. Searches. Scrolls. Copies names, addresses and phone numbers </a:t>
            </a:r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by one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a spreadsheet.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160520"/>
            <a:ext cx="507492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9768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hours later: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leads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zero idea which can afford the product, and a generic email headed straight for the spam folder.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03720" y="1691640"/>
            <a:ext cx="4718304" cy="370332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190195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RAKA'S SPREADSHEET.xlsx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2286000"/>
            <a:ext cx="4169664" cy="384048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1192" y="2286000"/>
            <a:ext cx="1659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Clinic name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02451" y="2286000"/>
            <a:ext cx="11594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53350" y="2286000"/>
            <a:ext cx="1076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2670048"/>
            <a:ext cx="4169664" cy="384048"/>
          </a:xfrm>
          <a:prstGeom prst="rect">
            <a:avLst/>
          </a:prstGeom>
          <a:solidFill>
            <a:srgbClr val="141A24"/>
          </a:solidFill>
          <a:ln w="9525">
            <a:solidFill>
              <a:srgbClr val="2731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1192" y="2670048"/>
            <a:ext cx="1659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Senyum Dental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02451" y="2670048"/>
            <a:ext cx="11594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Jl. Darmo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53350" y="2670048"/>
            <a:ext cx="1076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031-...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3054096"/>
            <a:ext cx="4169664" cy="384048"/>
          </a:xfrm>
          <a:prstGeom prst="rect">
            <a:avLst/>
          </a:prstGeom>
          <a:solidFill>
            <a:srgbClr val="10151E"/>
          </a:solidFill>
          <a:ln w="9525">
            <a:solidFill>
              <a:srgbClr val="2731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1192" y="3054096"/>
            <a:ext cx="1659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Klinik Gigi Sehat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02451" y="3054096"/>
            <a:ext cx="11594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Jl. Mayjen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53350" y="3054096"/>
            <a:ext cx="1076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0812-...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3438144"/>
            <a:ext cx="4169664" cy="384048"/>
          </a:xfrm>
          <a:prstGeom prst="rect">
            <a:avLst/>
          </a:prstGeom>
          <a:solidFill>
            <a:srgbClr val="141A24"/>
          </a:solidFill>
          <a:ln w="9525">
            <a:solidFill>
              <a:srgbClr val="2731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3438144"/>
            <a:ext cx="1659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Dental Care SBY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02451" y="3438144"/>
            <a:ext cx="11594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Jl. Basuki R.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53350" y="3438144"/>
            <a:ext cx="1076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3822192"/>
            <a:ext cx="4169664" cy="384048"/>
          </a:xfrm>
          <a:prstGeom prst="rect">
            <a:avLst/>
          </a:prstGeom>
          <a:solidFill>
            <a:srgbClr val="10151E"/>
          </a:solidFill>
          <a:ln w="9525">
            <a:solidFill>
              <a:srgbClr val="2731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3822192"/>
            <a:ext cx="1659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02451" y="3822192"/>
            <a:ext cx="11594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53350" y="3822192"/>
            <a:ext cx="1076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4370832"/>
            <a:ext cx="4169664" cy="777240"/>
          </a:xfrm>
          <a:prstGeom prst="rect">
            <a:avLst/>
          </a:prstGeom>
          <a:solidFill>
            <a:srgbClr val="1B2230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632" y="4590288"/>
            <a:ext cx="329184" cy="32918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818120" y="4370832"/>
            <a:ext cx="3392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HRS  →  23 LEADS  →  0 INSIGHT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66928" y="5650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is how B2B prospecting still works in 2026 across Southeast Asia.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02/13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02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generation is manual, fragmented &amp; intelligence-free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11296" cy="274320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" cy="2743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093976"/>
            <a:ext cx="658368" cy="658368"/>
          </a:xfrm>
          <a:prstGeom prst="ellipse">
            <a:avLst/>
          </a:prstGeom>
          <a:solidFill>
            <a:srgbClr val="1B2230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494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29260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without intelligence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9536" y="3566160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Scrapers hand you lists — names and numbers — but never tell you which leads are worth a call.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2272" y="1783080"/>
            <a:ext cx="3511296" cy="274320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1783080"/>
            <a:ext cx="54864" cy="2743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2093976"/>
            <a:ext cx="658368" cy="658368"/>
          </a:xfrm>
          <a:prstGeom prst="ellipse">
            <a:avLst/>
          </a:prstGeom>
          <a:solidFill>
            <a:srgbClr val="1B2230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24942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29260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CRMs without geography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54880" y="3566160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Pipedrive and HubSpot are list views. Field reps drive blind, with no sense of territory.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57616" y="1783080"/>
            <a:ext cx="3511296" cy="274320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1783080"/>
            <a:ext cx="54864" cy="2743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Shape 14"/>
          <p:cNvSpPr/>
          <p:nvPr/>
        </p:nvSpPr>
        <p:spPr>
          <a:xfrm>
            <a:off x="8650224" y="2093976"/>
            <a:ext cx="658368" cy="658368"/>
          </a:xfrm>
          <a:prstGeom prst="ellipse">
            <a:avLst/>
          </a:prstGeom>
          <a:solidFill>
            <a:srgbClr val="1B2230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24942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50224" y="29260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Outreach without personalization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650224" y="3566160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cold emails are sprayed at everyone — and land below a 1% reply rate.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800600"/>
            <a:ext cx="11055096" cy="132588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6928" y="4800600"/>
            <a:ext cx="54864" cy="132588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24" name="Text 19"/>
          <p:cNvSpPr/>
          <p:nvPr/>
        </p:nvSpPr>
        <p:spPr>
          <a:xfrm>
            <a:off x="886968" y="480060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B4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65%</a:t>
            </a:r>
            <a:endParaRPr lang="en-US" sz="5400" dirty="0"/>
          </a:p>
        </p:txBody>
      </p:sp>
      <p:sp>
        <p:nvSpPr>
          <p:cNvPr id="25" name="Text 20"/>
          <p:cNvSpPr/>
          <p:nvPr/>
        </p:nvSpPr>
        <p:spPr>
          <a:xfrm>
            <a:off x="2944368" y="4800600"/>
            <a:ext cx="8321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teams waste 65% of their day on non-selling work</a:t>
            </a:r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researching, data-entering, and guessing which leads are actually worth chasing.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27" name="Text 22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03/13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03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RESEARCH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numbers behind the pain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633472" cy="251460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2633472" cy="54864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2075688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E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65M+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04672" y="30632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SMBs in Indonesia alone — the addressable prospect universe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9136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BPS / World Bank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9584" y="1783080"/>
            <a:ext cx="2633472" cy="251460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9584" y="1783080"/>
            <a:ext cx="2633472" cy="54864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2075688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4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767328" y="30632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 sales rep's day is spent on non-selling work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12464" y="39136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McKinsey, State of Sales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92240" y="1783080"/>
            <a:ext cx="2633472" cy="251460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783080"/>
            <a:ext cx="2633472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075688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729984" y="30632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reply rate on generic cold email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39136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Salesforce Research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454896" y="1783080"/>
            <a:ext cx="2633472" cy="251460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54896" y="1783080"/>
            <a:ext cx="2633472" cy="54864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21" name="Text 19"/>
          <p:cNvSpPr/>
          <p:nvPr/>
        </p:nvSpPr>
        <p:spPr>
          <a:xfrm>
            <a:off x="9500616" y="2075688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3–5h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9692640" y="30632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day on manual prospect research &amp; data entry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37776" y="39136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HubSpot Sales Report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" y="4709160"/>
            <a:ext cx="11055096" cy="137160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4709160"/>
            <a:ext cx="54864" cy="1371600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57200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DE2A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</a:t>
            </a:r>
            <a:endParaRPr lang="en-US" sz="8000" dirty="0"/>
          </a:p>
        </p:txBody>
      </p:sp>
      <p:sp>
        <p:nvSpPr>
          <p:cNvPr id="27" name="Text 25"/>
          <p:cNvSpPr/>
          <p:nvPr/>
        </p:nvSpPr>
        <p:spPr>
          <a:xfrm>
            <a:off x="1618488" y="487375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biggest problem isn't finding leads — it's knowing which ones are worth calling.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5778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recurring pain from 12 discovery interviews with SEA SDRs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04/13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04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THE PIVOT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280160" y="1417320"/>
            <a:ext cx="9601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30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if every lead came </a:t>
            </a:r>
            <a:pPr algn="ctr" indent="0" marL="0">
              <a:lnSpc>
                <a:spcPts val="4600"/>
              </a:lnSpc>
              <a:buNone/>
            </a:pPr>
            <a:r>
              <a:rPr lang="en-US" sz="3300" i="1" dirty="0">
                <a:solidFill>
                  <a:srgbClr val="2DE2A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pre-analyzed</a:t>
            </a:r>
            <a:pPr algn="ctr" indent="0" marL="0">
              <a:lnSpc>
                <a:spcPts val="4600"/>
              </a:lnSpc>
              <a:buNone/>
            </a:pPr>
            <a:r>
              <a:rPr lang="en-US" sz="330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by a team of AI specialists — a financial analyst, a marketing strategist and a sales advisor — all collaborating in </a:t>
            </a:r>
            <a:pPr algn="ctr" indent="0" marL="0">
              <a:lnSpc>
                <a:spcPts val="4600"/>
              </a:lnSpc>
              <a:buNone/>
            </a:pPr>
            <a:r>
              <a:rPr lang="en-US" sz="3300" i="1" dirty="0">
                <a:solidFill>
                  <a:srgbClr val="FFB45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 10 seconds?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417320" y="4389120"/>
            <a:ext cx="4023360" cy="1719072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20240" y="498348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525780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8" name="Shape 6"/>
          <p:cNvSpPr/>
          <p:nvPr/>
        </p:nvSpPr>
        <p:spPr>
          <a:xfrm>
            <a:off x="2834640" y="493776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534924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507492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530352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498348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544068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512064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15" name="Shape 13"/>
          <p:cNvSpPr/>
          <p:nvPr/>
        </p:nvSpPr>
        <p:spPr>
          <a:xfrm>
            <a:off x="4023360" y="539496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5212080"/>
            <a:ext cx="109728" cy="109728"/>
          </a:xfrm>
          <a:prstGeom prst="ellipse">
            <a:avLst/>
          </a:prstGeom>
          <a:solidFill>
            <a:srgbClr val="6E7A8C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5779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messy Maps + spreadsheet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5047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766560" y="4389120"/>
            <a:ext cx="4023360" cy="1719072"/>
          </a:xfrm>
          <a:prstGeom prst="rect">
            <a:avLst/>
          </a:prstGeom>
          <a:solidFill>
            <a:srgbClr val="141A24"/>
          </a:solidFill>
          <a:ln w="15875">
            <a:solidFill>
              <a:srgbClr val="2DE2A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86600" y="4937760"/>
            <a:ext cx="182880" cy="1828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22" name="Text 20"/>
          <p:cNvSpPr/>
          <p:nvPr/>
        </p:nvSpPr>
        <p:spPr>
          <a:xfrm>
            <a:off x="7287768" y="4882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01000" y="4937760"/>
            <a:ext cx="182880" cy="1828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24" name="Text 22"/>
          <p:cNvSpPr/>
          <p:nvPr/>
        </p:nvSpPr>
        <p:spPr>
          <a:xfrm>
            <a:off x="8202168" y="4882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15400" y="4937760"/>
            <a:ext cx="182880" cy="1828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26" name="Text 24"/>
          <p:cNvSpPr/>
          <p:nvPr/>
        </p:nvSpPr>
        <p:spPr>
          <a:xfrm>
            <a:off x="9116568" y="4882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29800" y="4937760"/>
            <a:ext cx="182880" cy="18288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8" name="Text 26"/>
          <p:cNvSpPr/>
          <p:nvPr/>
        </p:nvSpPr>
        <p:spPr>
          <a:xfrm>
            <a:off x="10030968" y="4882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6600" y="5394960"/>
            <a:ext cx="182880" cy="1828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0" name="Text 28"/>
          <p:cNvSpPr/>
          <p:nvPr/>
        </p:nvSpPr>
        <p:spPr>
          <a:xfrm>
            <a:off x="7287768" y="53400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01000" y="5394960"/>
            <a:ext cx="182880" cy="1828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2" name="Text 30"/>
          <p:cNvSpPr/>
          <p:nvPr/>
        </p:nvSpPr>
        <p:spPr>
          <a:xfrm>
            <a:off x="8202168" y="53400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15400" y="5394960"/>
            <a:ext cx="182880" cy="18288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4" name="Text 32"/>
          <p:cNvSpPr/>
          <p:nvPr/>
        </p:nvSpPr>
        <p:spPr>
          <a:xfrm>
            <a:off x="9116568" y="53400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829800" y="5394960"/>
            <a:ext cx="182880" cy="1828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30968" y="53400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5788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scored, AI-enriched leads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05/13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05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Finetune Agent — a map-first intelligence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11296" cy="2788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54864" cy="2788920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6" name="Text 4"/>
          <p:cNvSpPr/>
          <p:nvPr/>
        </p:nvSpPr>
        <p:spPr>
          <a:xfrm>
            <a:off x="3163824" y="1938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9536" y="2048256"/>
            <a:ext cx="676656" cy="676656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DE2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1284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290779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Finder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9536" y="3401568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millions of companies by industry + geography. Draw a polygon, pick a category, get 1,000 verified leads — instantly.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62272" y="1737360"/>
            <a:ext cx="3511296" cy="2788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1737360"/>
            <a:ext cx="54864" cy="2788920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13" name="Text 10"/>
          <p:cNvSpPr/>
          <p:nvPr/>
        </p:nvSpPr>
        <p:spPr>
          <a:xfrm>
            <a:off x="7059168" y="1938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2048256"/>
            <a:ext cx="676656" cy="676656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DE2A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1284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290779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Mapped CRM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54880" y="3401568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lead is a pin. Manage the pipeline geographically — assign territories, plan routes, filter by stage or rating.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357616" y="1737360"/>
            <a:ext cx="3511296" cy="2788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57616" y="1737360"/>
            <a:ext cx="54864" cy="2788920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20" name="Text 16"/>
          <p:cNvSpPr/>
          <p:nvPr/>
        </p:nvSpPr>
        <p:spPr>
          <a:xfrm>
            <a:off x="10954512" y="1938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650224" y="2048256"/>
            <a:ext cx="676656" cy="676656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DE2A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21284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50224" y="290779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AI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650224" y="3401568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specialized AI agents across 3 pipelines. Every decision logged to agent_logs — full reasoning, no black box.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66928" y="5029200"/>
            <a:ext cx="11055096" cy="91440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50976" y="5285232"/>
            <a:ext cx="1481328" cy="402336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50976" y="5285232"/>
            <a:ext cx="1481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432304" y="5285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724912" y="5285232"/>
            <a:ext cx="1481328" cy="402336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724912" y="5285232"/>
            <a:ext cx="1481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enrich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206240" y="5285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4498848" y="5285232"/>
            <a:ext cx="1481328" cy="402336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498848" y="5285232"/>
            <a:ext cx="1481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analyze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980176" y="5285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6272784" y="5285232"/>
            <a:ext cx="1481328" cy="402336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272784" y="5285232"/>
            <a:ext cx="1481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7754112" y="5285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8046720" y="5285232"/>
            <a:ext cx="1481328" cy="402336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046720" y="5285232"/>
            <a:ext cx="1481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visit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9528048" y="5285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9820656" y="5285232"/>
            <a:ext cx="1481328" cy="402336"/>
          </a:xfrm>
          <a:prstGeom prst="rect">
            <a:avLst/>
          </a:prstGeom>
          <a:solidFill>
            <a:srgbClr val="1B2230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9820656" y="5285232"/>
            <a:ext cx="1481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566928" y="5074920"/>
            <a:ext cx="11055096" cy="2011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on one map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45" name="Text 40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06/13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06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THE AI ENGINE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one AI — a full team of specialists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651760" cy="86868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E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18488" y="16276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627632"/>
            <a:ext cx="2651760" cy="86868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62763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4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34840" y="16276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2651760" cy="86868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62763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C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51192" y="16276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Swarm runtime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15984" y="1627632"/>
            <a:ext cx="2651760" cy="86868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0576" y="162763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0067544" y="16276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queues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743200"/>
            <a:ext cx="3511296" cy="214884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743200"/>
            <a:ext cx="54864" cy="2148840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29260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316382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Scoring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" y="356616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Sequential · 4 steps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1248" y="3913632"/>
            <a:ext cx="839419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913632"/>
            <a:ext cx="839419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90395" y="3913632"/>
            <a:ext cx="689458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90395" y="3913632"/>
            <a:ext cx="68945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89581" y="3913632"/>
            <a:ext cx="839419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9581" y="3913632"/>
            <a:ext cx="839419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1248" y="4334256"/>
            <a:ext cx="764438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334256"/>
            <a:ext cx="76443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62272" y="2743200"/>
            <a:ext cx="3511296" cy="214884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62272" y="2743200"/>
            <a:ext cx="54864" cy="214884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29260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316382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Simulation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736592" y="356616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Parallel · 5 agents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3913632"/>
            <a:ext cx="539496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913632"/>
            <a:ext cx="5394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85816" y="3913632"/>
            <a:ext cx="764438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3913632"/>
            <a:ext cx="76443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Supplier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59982" y="3913632"/>
            <a:ext cx="764438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9982" y="3913632"/>
            <a:ext cx="76443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4149" y="3913632"/>
            <a:ext cx="464515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4149" y="3913632"/>
            <a:ext cx="464515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4334256"/>
            <a:ext cx="689458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4334256"/>
            <a:ext cx="68945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Synth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57616" y="2743200"/>
            <a:ext cx="3511296" cy="214884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57616" y="2743200"/>
            <a:ext cx="54864" cy="2148840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46" name="Text 44"/>
          <p:cNvSpPr/>
          <p:nvPr/>
        </p:nvSpPr>
        <p:spPr>
          <a:xfrm>
            <a:off x="8631936" y="29260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31936" y="316382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Analysis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8631936" y="356616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Parallel · 5 agents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631936" y="3913632"/>
            <a:ext cx="914400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31936" y="3913632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Competitor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656064" y="3913632"/>
            <a:ext cx="539496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56064" y="3913632"/>
            <a:ext cx="5394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Trend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305288" y="3913632"/>
            <a:ext cx="464515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05288" y="3913632"/>
            <a:ext cx="464515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879531" y="3913632"/>
            <a:ext cx="614477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879531" y="3913632"/>
            <a:ext cx="614477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Demand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631936" y="4334256"/>
            <a:ext cx="689458" cy="329184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31936" y="4334256"/>
            <a:ext cx="68945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Synth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66928" y="5138928"/>
            <a:ext cx="11055096" cy="896112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" y="5266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STANDALONE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32888" y="5248656"/>
            <a:ext cx="1129284" cy="310896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32888" y="5248656"/>
            <a:ext cx="1129284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 Sales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808476" y="5248656"/>
            <a:ext cx="1051560" cy="310896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08476" y="5248656"/>
            <a:ext cx="1051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Cold Email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06340" y="5248656"/>
            <a:ext cx="1051560" cy="310896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06340" y="5248656"/>
            <a:ext cx="10515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 Search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41248" y="56144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Llama 3.1 70B + 8B</a:t>
            </a:r>
            <a:pPr indent="0" marL="0">
              <a:buNone/>
            </a:pPr>
            <a:r>
              <a:rPr lang="en-US" sz="105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every step → </a:t>
            </a:r>
            <a:pPr indent="0" marL="0">
              <a:buNone/>
            </a:pPr>
            <a:r>
              <a:rPr lang="en-US" sz="105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agent_logs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69" name="Text 67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07/13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07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SEQUENTIAL  ·  4 STEPS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 — Lead Scoring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agent inherits the accumulated context of every agent before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505456" cy="246888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03120"/>
            <a:ext cx="2505456" cy="54864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359152"/>
            <a:ext cx="548640" cy="54864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03580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52044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raw scraped data into a structured business profile — name, category, size signals.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54096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19272" y="2103120"/>
            <a:ext cx="2505456" cy="246888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2103120"/>
            <a:ext cx="2505456" cy="54864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14" name="Shape 12"/>
          <p:cNvSpPr/>
          <p:nvPr/>
        </p:nvSpPr>
        <p:spPr>
          <a:xfrm>
            <a:off x="3557016" y="2359152"/>
            <a:ext cx="548640" cy="54864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15" name="Text 13"/>
          <p:cNvSpPr/>
          <p:nvPr/>
        </p:nvSpPr>
        <p:spPr>
          <a:xfrm>
            <a:off x="3557016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57016" y="303580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Agent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57016" y="352044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Estimates budget capacity, cash health and revenue potential.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0644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71616" y="2103120"/>
            <a:ext cx="2505456" cy="246888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2103120"/>
            <a:ext cx="2505456" cy="54864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359152"/>
            <a:ext cx="548640" cy="54864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303580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Agent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pain points, messaging fit and channel recommendations.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58784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823960" y="2103120"/>
            <a:ext cx="2505456" cy="246888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23960" y="2103120"/>
            <a:ext cx="2505456" cy="54864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28" name="Shape 26"/>
          <p:cNvSpPr/>
          <p:nvPr/>
        </p:nvSpPr>
        <p:spPr>
          <a:xfrm>
            <a:off x="9061704" y="2359152"/>
            <a:ext cx="548640" cy="54864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29" name="Text 27"/>
          <p:cNvSpPr/>
          <p:nvPr/>
        </p:nvSpPr>
        <p:spPr>
          <a:xfrm>
            <a:off x="9061704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061704" y="303580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Agent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061704" y="3520440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Synthesizes all three into a priority tier, conversion probability and next action.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50017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09928" y="4983480"/>
            <a:ext cx="4663440" cy="841248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9928" y="4983480"/>
            <a:ext cx="54864" cy="841248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35" name="Text 33"/>
          <p:cNvSpPr/>
          <p:nvPr/>
        </p:nvSpPr>
        <p:spPr>
          <a:xfrm>
            <a:off x="1984248" y="498348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lead_scores</a:t>
            </a:r>
            <a:pPr indent="0" marL="0">
              <a:buNone/>
            </a:pPr>
            <a:r>
              <a:rPr lang="en-US" sz="12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tier A/B/C/D + conversion 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601968" y="4983480"/>
            <a:ext cx="5020056" cy="841248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0568" y="498348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scrape → Extractor → Finance → Marketing → Strategy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08/13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08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PARALLEL FAN-OUT  ·  ~4× FASTER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B &amp; C — parallel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9240" cy="416052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" cy="416052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38528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Finance Simulation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28600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STAKEHOLDER LENSES, CONCURRENT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69948" y="2651760"/>
            <a:ext cx="2743200" cy="384048"/>
          </a:xfrm>
          <a:prstGeom prst="rect">
            <a:avLst/>
          </a:prstGeom>
          <a:solidFill>
            <a:srgbClr val="1B2230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9948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FinSim Coordinator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1548" y="3035808"/>
            <a:ext cx="-1909953" cy="347472"/>
          </a:xfrm>
          <a:prstGeom prst="line">
            <a:avLst/>
          </a:prstGeom>
          <a:noFill/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383280"/>
            <a:ext cx="944118" cy="713232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383280"/>
            <a:ext cx="94411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margin · growth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1548" y="3035808"/>
            <a:ext cx="-636651" cy="347472"/>
          </a:xfrm>
          <a:prstGeom prst="line">
            <a:avLst/>
          </a:prstGeom>
          <a:noFill/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2838" y="3383280"/>
            <a:ext cx="944118" cy="713232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2838" y="3383280"/>
            <a:ext cx="94411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Supplier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· lead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1548" y="3035808"/>
            <a:ext cx="636651" cy="347472"/>
          </a:xfrm>
          <a:prstGeom prst="line">
            <a:avLst/>
          </a:prstGeom>
          <a:noFill/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6140" y="3383280"/>
            <a:ext cx="944118" cy="713232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6140" y="3383280"/>
            <a:ext cx="94411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 · churn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1548" y="3035808"/>
            <a:ext cx="1909953" cy="347472"/>
          </a:xfrm>
          <a:prstGeom prst="line">
            <a:avLst/>
          </a:prstGeom>
          <a:noFill/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9442" y="3383280"/>
            <a:ext cx="944118" cy="713232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9442" y="3383280"/>
            <a:ext cx="94411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runway · credit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31595" y="4096512"/>
            <a:ext cx="1909953" cy="338328"/>
          </a:xfrm>
          <a:prstGeom prst="line">
            <a:avLst/>
          </a:prstGeom>
          <a:noFill/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4897" y="4096512"/>
            <a:ext cx="636651" cy="338328"/>
          </a:xfrm>
          <a:prstGeom prst="line">
            <a:avLst/>
          </a:prstGeom>
          <a:noFill/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78199" y="4096512"/>
            <a:ext cx="-636651" cy="338328"/>
          </a:xfrm>
          <a:prstGeom prst="line">
            <a:avLst/>
          </a:prstGeom>
          <a:noFill/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51501" y="4096512"/>
            <a:ext cx="-1909953" cy="338328"/>
          </a:xfrm>
          <a:prstGeom prst="line">
            <a:avLst/>
          </a:prstGeom>
          <a:noFill/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78508" y="4434840"/>
            <a:ext cx="2926080" cy="402336"/>
          </a:xfrm>
          <a:prstGeom prst="rect">
            <a:avLst/>
          </a:prstGeom>
          <a:solidFill>
            <a:srgbClr val="141A2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78508" y="4434840"/>
            <a:ext cx="29260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Synthesizer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" y="5074920"/>
            <a:ext cx="4764024" cy="713232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507492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monthly cashflow forecast + risk level (low / med / high / critical)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72784" y="1783080"/>
            <a:ext cx="5349240" cy="4160520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72784" y="1783080"/>
            <a:ext cx="54864" cy="4160520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1938528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Market Analysis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565392" y="228600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C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MARKET LENSES, CONCURRENT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75804" y="2651760"/>
            <a:ext cx="2743200" cy="384048"/>
          </a:xfrm>
          <a:prstGeom prst="rect">
            <a:avLst/>
          </a:prstGeom>
          <a:solidFill>
            <a:srgbClr val="1B2230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5804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Coordinator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47404" y="3035808"/>
            <a:ext cx="-1909953" cy="347472"/>
          </a:xfrm>
          <a:prstGeom prst="line">
            <a:avLst/>
          </a:prstGeom>
          <a:noFill/>
          <a:ln w="12700">
            <a:solidFill>
              <a:srgbClr val="5CC8FF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65392" y="3383280"/>
            <a:ext cx="944118" cy="713232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3383280"/>
            <a:ext cx="94411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Competitor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 · gaps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47404" y="3035808"/>
            <a:ext cx="-636651" cy="347472"/>
          </a:xfrm>
          <a:prstGeom prst="line">
            <a:avLst/>
          </a:prstGeom>
          <a:noFill/>
          <a:ln w="12700">
            <a:solidFill>
              <a:srgbClr val="5CC8FF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38694" y="3383280"/>
            <a:ext cx="944118" cy="713232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38694" y="3383280"/>
            <a:ext cx="94411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seasonality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947404" y="3035808"/>
            <a:ext cx="636651" cy="347472"/>
          </a:xfrm>
          <a:prstGeom prst="line">
            <a:avLst/>
          </a:prstGeom>
          <a:noFill/>
          <a:ln w="12700">
            <a:solidFill>
              <a:srgbClr val="5CC8FF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11996" y="3383280"/>
            <a:ext cx="944118" cy="713232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11996" y="3383280"/>
            <a:ext cx="94411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947404" y="3035808"/>
            <a:ext cx="1909953" cy="347472"/>
          </a:xfrm>
          <a:prstGeom prst="line">
            <a:avLst/>
          </a:prstGeom>
          <a:noFill/>
          <a:ln w="12700">
            <a:solidFill>
              <a:srgbClr val="5CC8FF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85298" y="3383280"/>
            <a:ext cx="944118" cy="713232"/>
          </a:xfrm>
          <a:prstGeom prst="rect">
            <a:avLst/>
          </a:prstGeom>
          <a:solidFill>
            <a:srgbClr val="1B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85298" y="3383280"/>
            <a:ext cx="94411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TAM · WTP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37451" y="4096512"/>
            <a:ext cx="1909953" cy="338328"/>
          </a:xfrm>
          <a:prstGeom prst="line">
            <a:avLst/>
          </a:prstGeom>
          <a:noFill/>
          <a:ln w="12700">
            <a:solidFill>
              <a:srgbClr val="5CC8FF">
                <a:alpha val="7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10753" y="4096512"/>
            <a:ext cx="636651" cy="338328"/>
          </a:xfrm>
          <a:prstGeom prst="line">
            <a:avLst/>
          </a:prstGeom>
          <a:noFill/>
          <a:ln w="12700">
            <a:solidFill>
              <a:srgbClr val="5CC8FF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84055" y="4096512"/>
            <a:ext cx="-636651" cy="338328"/>
          </a:xfrm>
          <a:prstGeom prst="line">
            <a:avLst/>
          </a:prstGeom>
          <a:noFill/>
          <a:ln w="12700">
            <a:solidFill>
              <a:srgbClr val="5CC8FF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57357" y="4096512"/>
            <a:ext cx="-1909953" cy="338328"/>
          </a:xfrm>
          <a:prstGeom prst="line">
            <a:avLst/>
          </a:prstGeom>
          <a:noFill/>
          <a:ln w="12700">
            <a:solidFill>
              <a:srgbClr val="5CC8FF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84364" y="4434840"/>
            <a:ext cx="2926080" cy="402336"/>
          </a:xfrm>
          <a:prstGeom prst="rect">
            <a:avLst/>
          </a:prstGeom>
          <a:solidFill>
            <a:srgbClr val="141A24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84364" y="4434840"/>
            <a:ext cx="29260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Synthesizer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565392" y="5074920"/>
            <a:ext cx="4764024" cy="713232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9984" y="507492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opportunity score + risk level + go-to-market positioning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09/13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5080">
            <a:solidFill>
              <a:srgbClr val="27313F">
                <a:alpha val="30000"/>
              </a:srgbClr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777240"/>
            <a:ext cx="777240" cy="777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27048" y="74980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5000" dirty="0"/>
          </a:p>
        </p:txBody>
      </p:sp>
      <p:sp>
        <p:nvSpPr>
          <p:cNvPr id="21" name="Text 18"/>
          <p:cNvSpPr/>
          <p:nvPr/>
        </p:nvSpPr>
        <p:spPr>
          <a:xfrm>
            <a:off x="1545336" y="1572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 → enrich → analyze → close, live on the map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2569464"/>
            <a:ext cx="457200" cy="457200"/>
          </a:xfrm>
          <a:prstGeom prst="ellipse">
            <a:avLst/>
          </a:prstGeom>
          <a:solidFill>
            <a:srgbClr val="141A24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25146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dashboard — leads as pins across Jakarta.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66928" y="3282696"/>
            <a:ext cx="457200" cy="457200"/>
          </a:xfrm>
          <a:prstGeom prst="ellipse">
            <a:avLst/>
          </a:prstGeom>
          <a:solidFill>
            <a:srgbClr val="141A24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88720" y="32278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a Business Finder search: "dentists in Surabaya".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66928" y="3995928"/>
            <a:ext cx="457200" cy="457200"/>
          </a:xfrm>
          <a:prstGeom prst="ellipse">
            <a:avLst/>
          </a:prstGeom>
          <a:solidFill>
            <a:srgbClr val="141A24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88720" y="394106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leads populate on the map in real time.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566928" y="4709160"/>
            <a:ext cx="457200" cy="457200"/>
          </a:xfrm>
          <a:prstGeom prst="ellipse">
            <a:avLst/>
          </a:prstGeom>
          <a:solidFill>
            <a:srgbClr val="141A24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88720" y="465429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a pin → detail panel slides open (reviews, stage).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72784" y="2569464"/>
            <a:ext cx="457200" cy="457200"/>
          </a:xfrm>
          <a:prstGeom prst="ellipse">
            <a:avLst/>
          </a:prstGeom>
          <a:solidFill>
            <a:srgbClr val="141A24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72784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894576" y="25146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Reveal the AI score: tier A/B/C/D + conversion + action.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272784" y="3282696"/>
            <a:ext cx="457200" cy="457200"/>
          </a:xfrm>
          <a:prstGeom prst="ellipse">
            <a:avLst/>
          </a:prstGeom>
          <a:solidFill>
            <a:srgbClr val="141A24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72784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894576" y="32278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agent_logs trace — Finance, Marketing, Strategy.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6272784" y="3995928"/>
            <a:ext cx="457200" cy="457200"/>
          </a:xfrm>
          <a:prstGeom prst="ellipse">
            <a:avLst/>
          </a:prstGeom>
          <a:solidFill>
            <a:srgbClr val="2DE2A6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72784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894576" y="394106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AI-drafted, hyper-personalized cold email.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44" name="Text 41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10/13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5C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09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720840" cy="768096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54864" cy="768096"/>
          </a:xfrm>
          <a:prstGeom prst="rect">
            <a:avLst/>
          </a:prstGeom>
          <a:solidFill>
            <a:srgbClr val="5CC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208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87452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898648" y="1783080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Next.js 15 · React 19 · MapLibre GL JS · OpenFreeMap · Tailwind v4 · Zustand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27348" y="2551176"/>
            <a:ext cx="0" cy="128016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2679192"/>
            <a:ext cx="6720840" cy="768096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2679192"/>
            <a:ext cx="54864" cy="768096"/>
          </a:xfrm>
          <a:prstGeom prst="rect">
            <a:avLst/>
          </a:prstGeom>
          <a:solidFill>
            <a:srgbClr val="2DE2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1693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277063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98648" y="267919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NestJS 11 thin REST API · BullMQ + Redis async job orchestration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927348" y="3447288"/>
            <a:ext cx="0" cy="128016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28" y="3575304"/>
            <a:ext cx="6720840" cy="768096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6928" y="3575304"/>
            <a:ext cx="54864" cy="768096"/>
          </a:xfrm>
          <a:prstGeom prst="rect">
            <a:avLst/>
          </a:prstGeom>
          <a:solidFill>
            <a:srgbClr val="FFB45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1304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44168" y="366674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2898648" y="357530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(Scrapling / Playwright) scraper · Node BullMQ workers · 5 AI queues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927348" y="4343400"/>
            <a:ext cx="0" cy="128016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66928" y="4471416"/>
            <a:ext cx="6720840" cy="768096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66928" y="4471416"/>
            <a:ext cx="54864" cy="768096"/>
          </a:xfrm>
          <a:prstGeom prst="rect">
            <a:avLst/>
          </a:prstGeom>
          <a:solidFill>
            <a:srgbClr val="FFB45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0916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44168" y="456285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Layer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2898648" y="447141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NVIDIA NIM (Llama 3.1 70B + 8B) · Vercel AI SDK · custom Swarm runtime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927348" y="5239512"/>
            <a:ext cx="0" cy="128016"/>
          </a:xfrm>
          <a:prstGeom prst="line">
            <a:avLst/>
          </a:prstGeom>
          <a:noFill/>
          <a:ln w="12700">
            <a:solidFill>
              <a:srgbClr val="3A465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66928" y="5367528"/>
            <a:ext cx="6720840" cy="768096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66928" y="5367528"/>
            <a:ext cx="54864" cy="768096"/>
          </a:xfrm>
          <a:prstGeom prst="rect">
            <a:avLst/>
          </a:prstGeom>
          <a:solidFill>
            <a:srgbClr val="5CC8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605272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44168" y="545896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2898648" y="5367528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7C0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Supabase PostgreSQL · Drizzle ORM · agent_logs · lead_scores · swarm_runs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635240" y="1783080"/>
            <a:ext cx="4005072" cy="2606040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7909560" y="19842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THESE CHOICES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909560" y="2432304"/>
            <a:ext cx="54864" cy="457200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36" name="Text 29"/>
          <p:cNvSpPr/>
          <p:nvPr/>
        </p:nvSpPr>
        <p:spPr>
          <a:xfrm>
            <a:off x="8092440" y="237744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MapLibre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zero Google Maps API cost at scale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7909560" y="3072384"/>
            <a:ext cx="54864" cy="457200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38" name="Text 31"/>
          <p:cNvSpPr/>
          <p:nvPr/>
        </p:nvSpPr>
        <p:spPr>
          <a:xfrm>
            <a:off x="8092440" y="301752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BullMQ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scrapes &amp; AI run async — never block the API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7909560" y="3712464"/>
            <a:ext cx="54864" cy="457200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40" name="Text 33"/>
          <p:cNvSpPr/>
          <p:nvPr/>
        </p:nvSpPr>
        <p:spPr>
          <a:xfrm>
            <a:off x="8092440" y="365760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NVIDIA NIM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OpenAI-compatible, model-agnostic, fast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7635240" y="4526280"/>
            <a:ext cx="4005072" cy="1225296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7635240" y="4526280"/>
            <a:ext cx="54864" cy="1225296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43" name="Text 36"/>
          <p:cNvSpPr/>
          <p:nvPr/>
        </p:nvSpPr>
        <p:spPr>
          <a:xfrm>
            <a:off x="7909560" y="46908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7909560" y="4965192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PM2 multi-process container on SumoPod PaaS — web, api and workers in one image.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46" name="Text 39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11/13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10</a:t>
            </a:r>
            <a:pPr algn="l" indent="0" marL="0">
              <a:buNone/>
            </a:pPr>
            <a:r>
              <a:rPr lang="en-US" sz="1150" spc="2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visual worlds, one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5394960" cy="1755648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116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9568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" y="24323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pPr indent="0" marL="0">
              <a:buNone/>
            </a:pPr>
            <a:r>
              <a:rPr lang="en-US" sz="13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UI, body, dashboard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7797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JetBrains Mono</a:t>
            </a:r>
            <a:pPr indent="0" marL="0">
              <a:buNone/>
            </a:pPr>
            <a:r>
              <a:rPr lang="en-US" sz="13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code, traces, IDs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31272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E2A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Lora</a:t>
            </a:r>
            <a:pPr indent="0" marL="0">
              <a:buNone/>
            </a:pPr>
            <a:r>
              <a:rPr lang="en-US" sz="13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editorial headers on the landing page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27064" y="1755648"/>
            <a:ext cx="5394960" cy="1755648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01168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76872" y="19568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&amp; Theming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501384" y="2532888"/>
            <a:ext cx="2286000" cy="777240"/>
          </a:xfrm>
          <a:prstGeom prst="rect">
            <a:avLst/>
          </a:prstGeom>
          <a:solidFill>
            <a:srgbClr val="0B0F17"/>
          </a:solidFill>
          <a:ln w="12700">
            <a:solidFill>
              <a:srgbClr val="2DE2A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38544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638544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brutalist · high-contrast · dense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70264" y="2532888"/>
            <a:ext cx="2286000" cy="777240"/>
          </a:xfrm>
          <a:prstGeom prst="rect">
            <a:avLst/>
          </a:prstGeom>
          <a:solidFill>
            <a:srgbClr val="1C3A5E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07424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Landing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107424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9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cinematic · sky gradient · Lenis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3776472"/>
            <a:ext cx="5394960" cy="1755648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3250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6736" y="3977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Library  @repo/ui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1248" y="4507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class-variance-authority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clsx + tailwind-merge. One Button, N variants — shared across web and every future app in the monorepo. No duplication.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27064" y="3776472"/>
            <a:ext cx="5394960" cy="1755648"/>
          </a:xfrm>
          <a:prstGeom prst="rect">
            <a:avLst/>
          </a:prstGeom>
          <a:solidFill>
            <a:srgbClr val="141A24"/>
          </a:solidFill>
          <a:ln w="12700">
            <a:solidFill>
              <a:srgbClr val="27313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4032504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76872" y="3977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UI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501384" y="4507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Stage-colored lead pins · clustering for dense areas · slide-over detail panel — no page navigation, context stays on the map.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66928" y="5797296"/>
            <a:ext cx="11055096" cy="566928"/>
          </a:xfrm>
          <a:prstGeom prst="rect">
            <a:avLst/>
          </a:prstGeom>
          <a:solidFill>
            <a:srgbClr val="1015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66928" y="5797296"/>
            <a:ext cx="54864" cy="566928"/>
          </a:xfrm>
          <a:prstGeom prst="rect">
            <a:avLst/>
          </a:prstGeom>
          <a:solidFill>
            <a:srgbClr val="2DE2A6"/>
          </a:solidFill>
          <a:ln/>
        </p:spPr>
      </p:sp>
      <p:sp>
        <p:nvSpPr>
          <p:cNvPr id="29" name="Text 23"/>
          <p:cNvSpPr/>
          <p:nvPr/>
        </p:nvSpPr>
        <p:spPr>
          <a:xfrm>
            <a:off x="886968" y="57972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Principle:  </a:t>
            </a:r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map is never hidden — every interaction happens on or around it. It is the product, not a widget.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11606479" y="6510528"/>
            <a:ext cx="68580" cy="685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31" name="Text 25"/>
          <p:cNvSpPr/>
          <p:nvPr/>
        </p:nvSpPr>
        <p:spPr>
          <a:xfrm>
            <a:off x="8229600" y="6400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pPr algn="r" indent="0" marL="0">
              <a:buNone/>
            </a:pPr>
            <a:r>
              <a:rPr lang="en-US" sz="800" spc="150" kern="0" dirty="0">
                <a:solidFill>
                  <a:srgbClr val="475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12/13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5632" y="1627632"/>
            <a:ext cx="731520" cy="2011680"/>
          </a:xfrm>
          <a:prstGeom prst="line">
            <a:avLst/>
          </a:prstGeom>
          <a:noFill/>
          <a:ln w="12700">
            <a:solidFill>
              <a:srgbClr val="2DE2A6">
                <a:alpha val="65000"/>
              </a:srgbClr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217152" y="3639312"/>
            <a:ext cx="-365760" cy="1188720"/>
          </a:xfrm>
          <a:prstGeom prst="line">
            <a:avLst/>
          </a:prstGeom>
          <a:noFill/>
          <a:ln w="12700">
            <a:solidFill>
              <a:srgbClr val="2DE2A6">
                <a:alpha val="65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851392" y="4828032"/>
            <a:ext cx="1463040" cy="457200"/>
          </a:xfrm>
          <a:prstGeom prst="line">
            <a:avLst/>
          </a:prstGeom>
          <a:noFill/>
          <a:ln w="12700">
            <a:solidFill>
              <a:srgbClr val="2DE2A6">
                <a:alpha val="65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163763" y="1305763"/>
            <a:ext cx="497434" cy="497434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1554480"/>
            <a:ext cx="146304" cy="146304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7" name="Shape 5"/>
          <p:cNvSpPr/>
          <p:nvPr/>
        </p:nvSpPr>
        <p:spPr>
          <a:xfrm>
            <a:off x="9490558" y="2175358"/>
            <a:ext cx="404165" cy="404165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2377440"/>
            <a:ext cx="118872" cy="11887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Shape 7"/>
          <p:cNvSpPr/>
          <p:nvPr/>
        </p:nvSpPr>
        <p:spPr>
          <a:xfrm>
            <a:off x="10694822" y="1550822"/>
            <a:ext cx="373075" cy="373075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0" y="1737360"/>
            <a:ext cx="109728" cy="109728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11" name="Shape 9"/>
          <p:cNvSpPr/>
          <p:nvPr/>
        </p:nvSpPr>
        <p:spPr>
          <a:xfrm>
            <a:off x="8833104" y="3255264"/>
            <a:ext cx="621792" cy="621792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0" y="3566160"/>
            <a:ext cx="182880" cy="182880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4958" y="3821278"/>
            <a:ext cx="404165" cy="404165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0" y="4023360"/>
            <a:ext cx="118872" cy="11887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Shape 13"/>
          <p:cNvSpPr/>
          <p:nvPr/>
        </p:nvSpPr>
        <p:spPr>
          <a:xfrm>
            <a:off x="8560613" y="4537253"/>
            <a:ext cx="435254" cy="435254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0" y="4754880"/>
            <a:ext cx="128016" cy="128016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17" name="Shape 15"/>
          <p:cNvSpPr/>
          <p:nvPr/>
        </p:nvSpPr>
        <p:spPr>
          <a:xfrm>
            <a:off x="9992563" y="4963363"/>
            <a:ext cx="497434" cy="497434"/>
          </a:xfrm>
          <a:prstGeom prst="ellipse">
            <a:avLst/>
          </a:prstGeom>
          <a:solidFill>
            <a:srgbClr val="2DE2A6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5212080"/>
            <a:ext cx="146304" cy="146304"/>
          </a:xfrm>
          <a:prstGeom prst="ellipse">
            <a:avLst/>
          </a:prstGeom>
          <a:solidFill>
            <a:srgbClr val="2DE2A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DE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22860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800" b="1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Find.  Analyze.  Close.</a:t>
            </a:r>
            <a:endParaRPr lang="en-US" sz="5800" dirty="0"/>
          </a:p>
        </p:txBody>
      </p:sp>
      <p:sp>
        <p:nvSpPr>
          <p:cNvPr id="21" name="Text 19"/>
          <p:cNvSpPr/>
          <p:nvPr/>
        </p:nvSpPr>
        <p:spPr>
          <a:xfrm>
            <a:off x="566928" y="3840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B2B sales intelligence, built for Southeast Asia.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" y="5029200"/>
            <a:ext cx="51206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166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Finetune   ·   finetune.id   ·   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Finetune Agent — Pitch Deck</dc:title>
  <dc:subject>PptxGenJS Presentation</dc:subject>
  <dc:creator>Finetune</dc:creator>
  <cp:lastModifiedBy>Finetune</cp:lastModifiedBy>
  <cp:revision>1</cp:revision>
  <dcterms:created xsi:type="dcterms:W3CDTF">2026-06-03T05:28:11Z</dcterms:created>
  <dcterms:modified xsi:type="dcterms:W3CDTF">2026-06-03T05:28:11Z</dcterms:modified>
</cp:coreProperties>
</file>